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152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73152" cy="4114800"/>
          </a:xfrm>
          <a:prstGeom prst="rect">
            <a:avLst/>
          </a:prstGeom>
          <a:solidFill>
            <a:srgbClr val="C8A45C"/>
          </a:solidFill>
          <a:ln/>
        </p:spPr>
      </p:sp>
      <p:pic>
        <p:nvPicPr>
          <p:cNvPr id="4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74320"/>
            <a:ext cx="109728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中国民用航空飞行学院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164592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基于网页的飞机导航显示器</a:t>
            </a:r>
            <a:endParaRPr lang="en-US" sz="3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模拟器的开发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of a Web-Based Aircraft Navigation Display Simulator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97280" y="4114800"/>
            <a:ext cx="3657600" cy="27432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答辩人：黄凯</a:t>
            </a:r>
            <a:pPr indent="0" marL="0">
              <a:buNone/>
            </a:pPr>
            <a:r>
              <a:rPr lang="en-US" sz="16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学号：20221211100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指导教师：包勇  副教授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汇报时间：2026.06.05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0" y="1371600"/>
            <a:ext cx="731520" cy="731520"/>
          </a:xfrm>
          <a:prstGeom prst="ellipse">
            <a:avLst/>
          </a:prstGeom>
          <a:solidFill>
            <a:srgbClr val="8B3A4A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377440" y="1417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371600" y="2560320"/>
            <a:ext cx="731520" cy="731520"/>
          </a:xfrm>
          <a:prstGeom prst="ellipse">
            <a:avLst/>
          </a:prstGeom>
          <a:solidFill>
            <a:srgbClr val="8B3A4A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377440" y="2606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系统总体设计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371600" y="3749040"/>
            <a:ext cx="731520" cy="731520"/>
          </a:xfrm>
          <a:prstGeom prst="ellipse">
            <a:avLst/>
          </a:prstGeom>
          <a:solidFill>
            <a:srgbClr val="8B3A4A"/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3749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377440" y="3794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关键技术与实现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1371600" y="4937760"/>
            <a:ext cx="731520" cy="731520"/>
          </a:xfrm>
          <a:prstGeom prst="ellipse">
            <a:avLst/>
          </a:prstGeom>
          <a:solidFill>
            <a:srgbClr val="8B3A4A"/>
          </a:solidFill>
          <a:ln/>
        </p:spPr>
      </p:sp>
      <p:sp>
        <p:nvSpPr>
          <p:cNvPr id="17" name="Text 14"/>
          <p:cNvSpPr/>
          <p:nvPr/>
        </p:nvSpPr>
        <p:spPr>
          <a:xfrm>
            <a:off x="1371600" y="4937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377440" y="4983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测试、结论与展望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20" name="Text 17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1D2A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74320"/>
            <a:ext cx="109728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914400" y="3474720"/>
            <a:ext cx="2743200" cy="36576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Background and Significance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1887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【研究背景】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航空电子显示器是飞机驾驶舱核心系统，ND是飞行员获取位置、导航信息的重要途径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1956816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A320作为全球最广泛使用的客机之一，其ND系统涵盖五种显示模式，功能完整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234086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传统教学依赖专业模拟设备，成本高、部署复杂，学生难以便捷接触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72491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【研究意义】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57200" y="310896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提供低成本、跨平台的ND模拟教学工具，辅助导航原理等课程教学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349300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无需专业硬件设备，学生通过浏览器即可随时访问学习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3877056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帮助非飞行专业学生直观理解导航显示器工作原理，理论与实践结合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 Research Status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18872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【传统模拟器方法】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采用C/C++、专业图形库开发，依赖X-Plane/Flight Gear等平台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1956816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部署复杂、跨平台能力有限、硬件成本高（数万元级）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234086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【现有Web模拟器不足】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7200" y="272491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现有Web成果集中于通用仪表，缺乏对A320 ND复杂系统的深度模拟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3108960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多数系统缺乏教学讲解功能、不支持用户自定义航路、不支持模式切换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7200" y="3493008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【本设计目标】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57200" y="3877056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利用Web前端技术，实现A320 ND五种模式的完整显示与切换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4261104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集成教学辅助功能，支持自定义地图数据导入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" y="4645152"/>
            <a:ext cx="10972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成为低门槛、跨平台的航空教学工具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1D2A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74320"/>
            <a:ext cx="109728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系统总体设计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914400" y="3474720"/>
            <a:ext cx="2743200" cy="36576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18872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8B3A4A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280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显示层 (Presentation Layer)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97280" y="1737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ND Canvas绘制 · EFIS控制面板UI · 航路管理界面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0" y="2423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▼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B71C1C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2834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控制层 (Control Layer)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97280" y="3291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React状态管理 · Context全局共享 · 事件处理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0" y="3977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▼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31520" y="429768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D32F2F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4389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服务层 (Service Layer)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97280" y="4846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地图数据服务 · 飞行计划管理 · VOR/ILS导航计算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技术栈选型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 Stack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5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22960" y="2011680"/>
            <a:ext cx="2011680" cy="27432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28600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组件化开发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虚拟DOM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API状态管理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83280" y="11887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5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188720"/>
            <a:ext cx="2560320" cy="54864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 2D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657600" y="2011680"/>
            <a:ext cx="2011680" cy="2743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6" name="Text 13"/>
          <p:cNvSpPr/>
          <p:nvPr/>
        </p:nvSpPr>
        <p:spPr>
          <a:xfrm>
            <a:off x="3566160" y="228600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像素级渲染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60FPS动画循环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分层绘制架构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11887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5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5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492240" y="2011680"/>
            <a:ext cx="2011680" cy="27432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0" y="228600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快速冷启动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ESM热模块替换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Rollup生产构建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052560" y="1188720"/>
            <a:ext cx="2560320" cy="41148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CCCCCC">
                <a:alpha val="5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052560" y="1188720"/>
            <a:ext cx="2560320" cy="54864"/>
          </a:xfrm>
          <a:prstGeom prst="rect">
            <a:avLst/>
          </a:prstGeom>
          <a:solidFill>
            <a:srgbClr val="C97A84"/>
          </a:solidFill>
          <a:ln/>
        </p:spPr>
      </p:sp>
      <p:sp>
        <p:nvSpPr>
          <p:cNvPr id="24" name="Text 21"/>
          <p:cNvSpPr/>
          <p:nvPr/>
        </p:nvSpPr>
        <p:spPr>
          <a:xfrm>
            <a:off x="9052560" y="13716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9326880" y="2011680"/>
            <a:ext cx="2011680" cy="27432"/>
          </a:xfrm>
          <a:prstGeom prst="rect">
            <a:avLst/>
          </a:prstGeom>
          <a:solidFill>
            <a:srgbClr val="C97A84"/>
          </a:solidFill>
          <a:ln/>
        </p:spPr>
      </p:sp>
      <p:sp>
        <p:nvSpPr>
          <p:cNvPr id="26" name="Text 23"/>
          <p:cNvSpPr/>
          <p:nvPr/>
        </p:nvSpPr>
        <p:spPr>
          <a:xfrm>
            <a:off x="9235440" y="228600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浏览器原生支持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事件驱动异步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JSON原生支持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28" name="Text 25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1D2A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74320"/>
            <a:ext cx="109728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关键技术与实现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914400" y="3474720"/>
            <a:ext cx="2743200" cy="36576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五种ND显示模式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Five ND Display Modes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88720"/>
            <a:ext cx="2148840" cy="43891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1188720"/>
            <a:ext cx="2148840" cy="54864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NAV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1920240"/>
            <a:ext cx="1874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全罗盘导航模式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飞机居中，航向朝上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显示360°导航信息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97480" y="1188720"/>
            <a:ext cx="2148840" cy="43891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697480" y="1188720"/>
            <a:ext cx="2148840" cy="54864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3" name="Text 10"/>
          <p:cNvSpPr/>
          <p:nvPr/>
        </p:nvSpPr>
        <p:spPr>
          <a:xfrm>
            <a:off x="2697480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ILS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1920240"/>
            <a:ext cx="1874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仪表着陆模式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航向道/下滑道偏差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精密进近引导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0" y="1188720"/>
            <a:ext cx="2148840" cy="43891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0" y="1188720"/>
            <a:ext cx="2148840" cy="54864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VOR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1920240"/>
            <a:ext cx="1874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VOR导航模式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CDI偏航指示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TO/FROM判断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60920" y="1188720"/>
            <a:ext cx="2148840" cy="43891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7360920" y="1188720"/>
            <a:ext cx="2148840" cy="54864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21" name="Text 18"/>
          <p:cNvSpPr/>
          <p:nvPr/>
        </p:nvSpPr>
        <p:spPr>
          <a:xfrm>
            <a:off x="7360920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98080" y="1920240"/>
            <a:ext cx="1874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扇形显示模式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前方90°扇形区域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底部居中显示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692640" y="1188720"/>
            <a:ext cx="2148840" cy="438912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9692640" y="1188720"/>
            <a:ext cx="2148840" cy="54864"/>
          </a:xfrm>
          <a:prstGeom prst="rect">
            <a:avLst/>
          </a:prstGeom>
          <a:solidFill>
            <a:srgbClr val="C97A84"/>
          </a:solidFill>
          <a:ln/>
        </p:spPr>
      </p:sp>
      <p:sp>
        <p:nvSpPr>
          <p:cNvPr id="25" name="Text 22"/>
          <p:cNvSpPr/>
          <p:nvPr/>
        </p:nvSpPr>
        <p:spPr>
          <a:xfrm>
            <a:off x="9692640" y="13716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7A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829800" y="1920240"/>
            <a:ext cx="1874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计划模式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正北朝上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目标航路点居中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28" name="Text 25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 2D渲染引擎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Canvas 2D Rendering Engine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【绘制流程】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清空画布 → 根据模式分发绘制 → 绘制罗盘/地图 → 绘制导航辅助信息 → 绘制数据块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【核心技术】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等距方位投影：以飞机位置为投影中心，将世界坐标(NM)映射到屏幕坐标(px)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分层渲染架构：各功能模块绘制逻辑独立，通过Canvas状态隔离避免样式污染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requestAnimationFrame驱动：自动与显示器刷新率同步(60Hz)，页面不可见时自动暂停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【坐标变换】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世界坐标 → 屏幕坐标：worldToScreen函数，支持航向旋转与平移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ARC模式扇形裁剪：极坐标角度判断，保留±50°范围内元素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PLAN模式：固定正北朝上，目标航路点居中定位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EFIS控制面板设计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EFIS Control Panel Design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【模式选择旋钮】控制五种ND模式切换（NAV/LS/VOR/ARC/PLAN）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【范围选择旋钮】六档量程调节（10/20/40/80/160/320 NM）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【VOR调谐区】自动/手动调谐切换、频率调节、CRS航道设定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【辅助功能按钮】TERR（地形）、WXR（气象雷达）、FAIL（故障模拟）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【组件化设计】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AirButton：带状态指示的按钮组件，支持按下/弹起状态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SelectorKnob：离散值选择旋钮，用于模式与范围切换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ContinuousKnob：连续值调节旋钮，用于VOR频率与CRS航道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【数据通信】Props回调传递用户操作，单向数据流确保状态可追踪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17" name="Text 1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航路管理系统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Flight Plan Management System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【状态管理】React Context全局共享（FlightPlanContext）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routes数组管理所有航路，activeRouteId/secondaryRouteId标识启/备航路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【核心功能】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航路创建/删除、航路点增删改查、启/备航路切换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直线航段与弧形过渡航段两种连接方式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【地图数据服务】MapDataService.js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支持从URL或本地JSON文件加载地图数据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自动验证与标准化地图数据格式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【ND显示】主动航路洋红色、备用航路青色绘制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目标航路点菱形标记突出显示，标注名称与预计到达时间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VOR/ILS导航功能实现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VOR/ILS Navigation Implementation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【VOR导航】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CDI航道偏差指示器：航道杆+偏离杆+TO/FROM标志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VOR方位指针：VOR1实线、VOR2虚线，指示VOR台方位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自动调谐：自动选择航路中最近的VOR台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手动调谐：通过频率旋钮选择指定VOR台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【ILS仪表着陆】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航向道（LOC）偏差：洋红色航道杆+偏离杆，每刻度0.8°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下滑道（GS）偏差：右侧垂直刻度尺，每刻度0.4°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ILS信息显示：频率、选择航道、识别码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【优先级策略】航路VOR台 &gt; 手动调谐 &gt; 自动调谐 &gt; 最近VOR台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B1D2A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74320"/>
            <a:ext cx="109728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A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914400" y="25603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测试、结论与展望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914400" y="3474720"/>
            <a:ext cx="2743200" cy="36576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系统测试结果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Test Results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515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858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测试项目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3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3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ROSE NAV模式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360°罗盘显示正确，航向朝上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ROSE ILS模式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LOC/GS偏差指示正确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ROSE VOR模式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CDI偏航指示、TO/FROM切换正确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ARC模式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扇形视口显示正确，飞机底部居中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PLAN模式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正北朝上，目标航路点居中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飞行计划管理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航路增删改查、启备切换全部通过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VOR/ILS导航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自动/手动调谐、偏差指示全部通过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9" name="Text 5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5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 and Future Work</a:t>
            </a:r>
            <a:endParaRPr lang="en-US" sz="1400" dirty="0"/>
          </a:p>
        </p:txBody>
      </p:sp>
      <p:pic>
        <p:nvPicPr>
          <p:cNvPr id="6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72800" y="137160"/>
            <a:ext cx="91440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18872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EBE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主要成果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完整实现A320 ND五种显示模式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423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Canvas 2D高性能渲染，60FPS流畅运行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EFIS控制面板交互设计，模拟真实操作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飞行计划航路管理，支持自定义地图导入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VOR/ILS导航引导，自动/手动调谐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4434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组件化架构，低耦合高内聚，易于扩展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17920" y="118872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FF3E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0080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引入ADF指示器、风数据等更多飞行参数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0" y="24231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集成MCDU功能，实现完整飞行管理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扩展移动平台支持（平板/手机）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3429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完善外部飞行模拟器数据接口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增加智能训练分析功能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8B3A4A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1520"/>
          </a:solidFill>
          <a:ln/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457200"/>
            <a:ext cx="109728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汇报结束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请各位老师批评与指正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029200" y="3200400"/>
            <a:ext cx="1828800" cy="27432"/>
          </a:xfrm>
          <a:prstGeom prst="rect">
            <a:avLst/>
          </a:prstGeom>
          <a:solidFill>
            <a:srgbClr val="C8A45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答辩人：黄凯  20221211100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C4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指导教师：包勇  副教授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0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汇报时间：2026.06.05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2026-06-04T07:23:46Z</dcterms:created>
  <dcterms:modified xsi:type="dcterms:W3CDTF">2026-06-04T07:23:46Z</dcterms:modified>
</cp:coreProperties>
</file>